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3" r:id="rId8"/>
    <p:sldId id="262"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1" d="100"/>
          <a:sy n="91" d="100"/>
        </p:scale>
        <p:origin x="723"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tharv Dhalpe" userId="917c149313c1c74f" providerId="LiveId" clId="{32D17757-A548-41DC-BE0B-BDFA522ABB54}"/>
    <pc:docChg chg="undo redo custSel addSld delSld modSld">
      <pc:chgData name="Atharv Dhalpe" userId="917c149313c1c74f" providerId="LiveId" clId="{32D17757-A548-41DC-BE0B-BDFA522ABB54}" dt="2026-01-02T19:31:22.170" v="158" actId="113"/>
      <pc:docMkLst>
        <pc:docMk/>
      </pc:docMkLst>
      <pc:sldChg chg="modSp mod">
        <pc:chgData name="Atharv Dhalpe" userId="917c149313c1c74f" providerId="LiveId" clId="{32D17757-A548-41DC-BE0B-BDFA522ABB54}" dt="2026-01-02T19:31:22.170" v="158" actId="113"/>
        <pc:sldMkLst>
          <pc:docMk/>
          <pc:sldMk cId="4239073859" sldId="257"/>
        </pc:sldMkLst>
        <pc:spChg chg="mod">
          <ac:chgData name="Atharv Dhalpe" userId="917c149313c1c74f" providerId="LiveId" clId="{32D17757-A548-41DC-BE0B-BDFA522ABB54}" dt="2026-01-02T19:31:22.170" v="158" actId="113"/>
          <ac:spMkLst>
            <pc:docMk/>
            <pc:sldMk cId="4239073859" sldId="257"/>
            <ac:spMk id="3" creationId="{EA02B358-90CC-3556-37BF-5C991CE7F59F}"/>
          </ac:spMkLst>
        </pc:spChg>
      </pc:sldChg>
      <pc:sldChg chg="addSp delSp modSp new mod">
        <pc:chgData name="Atharv Dhalpe" userId="917c149313c1c74f" providerId="LiveId" clId="{32D17757-A548-41DC-BE0B-BDFA522ABB54}" dt="2026-01-02T19:22:16.807" v="35"/>
        <pc:sldMkLst>
          <pc:docMk/>
          <pc:sldMk cId="1225921165" sldId="264"/>
        </pc:sldMkLst>
        <pc:spChg chg="mod">
          <ac:chgData name="Atharv Dhalpe" userId="917c149313c1c74f" providerId="LiveId" clId="{32D17757-A548-41DC-BE0B-BDFA522ABB54}" dt="2026-01-02T19:20:01.862" v="3" actId="12"/>
          <ac:spMkLst>
            <pc:docMk/>
            <pc:sldMk cId="1225921165" sldId="264"/>
            <ac:spMk id="2" creationId="{57C142F1-9723-31CB-4DB1-7C750ECBF0D4}"/>
          </ac:spMkLst>
        </pc:spChg>
        <pc:spChg chg="add del mod">
          <ac:chgData name="Atharv Dhalpe" userId="917c149313c1c74f" providerId="LiveId" clId="{32D17757-A548-41DC-BE0B-BDFA522ABB54}" dt="2026-01-02T19:22:16.807" v="35"/>
          <ac:spMkLst>
            <pc:docMk/>
            <pc:sldMk cId="1225921165" sldId="264"/>
            <ac:spMk id="3" creationId="{DF67C3D4-78C2-18AD-B0A5-788C43C4BA71}"/>
          </ac:spMkLst>
        </pc:spChg>
        <pc:spChg chg="add mod">
          <ac:chgData name="Atharv Dhalpe" userId="917c149313c1c74f" providerId="LiveId" clId="{32D17757-A548-41DC-BE0B-BDFA522ABB54}" dt="2026-01-02T19:20:17.626" v="7"/>
          <ac:spMkLst>
            <pc:docMk/>
            <pc:sldMk cId="1225921165" sldId="264"/>
            <ac:spMk id="4" creationId="{64B5EBDC-10D7-A194-C0FF-2F832598DC03}"/>
          </ac:spMkLst>
        </pc:spChg>
        <pc:spChg chg="add mod">
          <ac:chgData name="Atharv Dhalpe" userId="917c149313c1c74f" providerId="LiveId" clId="{32D17757-A548-41DC-BE0B-BDFA522ABB54}" dt="2026-01-02T19:20:24.404" v="11"/>
          <ac:spMkLst>
            <pc:docMk/>
            <pc:sldMk cId="1225921165" sldId="264"/>
            <ac:spMk id="5" creationId="{0FE49EE2-FEAA-1172-A9B6-861D1F5E4D3D}"/>
          </ac:spMkLst>
        </pc:spChg>
        <pc:spChg chg="add del">
          <ac:chgData name="Atharv Dhalpe" userId="917c149313c1c74f" providerId="LiveId" clId="{32D17757-A548-41DC-BE0B-BDFA522ABB54}" dt="2026-01-02T19:20:34.526" v="13" actId="22"/>
          <ac:spMkLst>
            <pc:docMk/>
            <pc:sldMk cId="1225921165" sldId="264"/>
            <ac:spMk id="7" creationId="{3594906F-2706-59A6-0528-320106752D5D}"/>
          </ac:spMkLst>
        </pc:spChg>
      </pc:sldChg>
      <pc:sldChg chg="new del">
        <pc:chgData name="Atharv Dhalpe" userId="917c149313c1c74f" providerId="LiveId" clId="{32D17757-A548-41DC-BE0B-BDFA522ABB54}" dt="2026-01-02T19:22:27.870" v="37" actId="2696"/>
        <pc:sldMkLst>
          <pc:docMk/>
          <pc:sldMk cId="2144752910" sldId="265"/>
        </pc:sldMkLst>
      </pc:sldChg>
      <pc:sldChg chg="addSp modSp add mod">
        <pc:chgData name="Atharv Dhalpe" userId="917c149313c1c74f" providerId="LiveId" clId="{32D17757-A548-41DC-BE0B-BDFA522ABB54}" dt="2026-01-02T19:28:47.840" v="123" actId="313"/>
        <pc:sldMkLst>
          <pc:docMk/>
          <pc:sldMk cId="4044237356" sldId="265"/>
        </pc:sldMkLst>
        <pc:spChg chg="mod">
          <ac:chgData name="Atharv Dhalpe" userId="917c149313c1c74f" providerId="LiveId" clId="{32D17757-A548-41DC-BE0B-BDFA522ABB54}" dt="2026-01-02T19:27:00.370" v="93" actId="404"/>
          <ac:spMkLst>
            <pc:docMk/>
            <pc:sldMk cId="4044237356" sldId="265"/>
            <ac:spMk id="2" creationId="{02B24EDA-B21A-80B4-6637-7E082F4BD75A}"/>
          </ac:spMkLst>
        </pc:spChg>
        <pc:spChg chg="mod">
          <ac:chgData name="Atharv Dhalpe" userId="917c149313c1c74f" providerId="LiveId" clId="{32D17757-A548-41DC-BE0B-BDFA522ABB54}" dt="2026-01-02T19:28:47.840" v="123" actId="313"/>
          <ac:spMkLst>
            <pc:docMk/>
            <pc:sldMk cId="4044237356" sldId="265"/>
            <ac:spMk id="3" creationId="{34C468E7-2151-5C82-088A-8816F0856817}"/>
          </ac:spMkLst>
        </pc:spChg>
        <pc:spChg chg="add">
          <ac:chgData name="Atharv Dhalpe" userId="917c149313c1c74f" providerId="LiveId" clId="{32D17757-A548-41DC-BE0B-BDFA522ABB54}" dt="2026-01-02T19:24:31.038" v="56"/>
          <ac:spMkLst>
            <pc:docMk/>
            <pc:sldMk cId="4044237356" sldId="265"/>
            <ac:spMk id="4" creationId="{D895692C-A53F-A2CA-3DE1-3CC4BB1C1140}"/>
          </ac:spMkLst>
        </pc:spChg>
      </pc:sldChg>
      <pc:sldChg chg="modSp add mod">
        <pc:chgData name="Atharv Dhalpe" userId="917c149313c1c74f" providerId="LiveId" clId="{32D17757-A548-41DC-BE0B-BDFA522ABB54}" dt="2026-01-02T19:26:55.418" v="92" actId="404"/>
        <pc:sldMkLst>
          <pc:docMk/>
          <pc:sldMk cId="2629250339" sldId="266"/>
        </pc:sldMkLst>
        <pc:spChg chg="mod">
          <ac:chgData name="Atharv Dhalpe" userId="917c149313c1c74f" providerId="LiveId" clId="{32D17757-A548-41DC-BE0B-BDFA522ABB54}" dt="2026-01-02T19:26:55.418" v="92" actId="404"/>
          <ac:spMkLst>
            <pc:docMk/>
            <pc:sldMk cId="2629250339" sldId="266"/>
            <ac:spMk id="2" creationId="{D481A442-A570-5D2A-D6C7-4476379EFAAD}"/>
          </ac:spMkLst>
        </pc:spChg>
      </pc:sldChg>
      <pc:sldChg chg="modSp new mod">
        <pc:chgData name="Atharv Dhalpe" userId="917c149313c1c74f" providerId="LiveId" clId="{32D17757-A548-41DC-BE0B-BDFA522ABB54}" dt="2026-01-02T19:29:53.746" v="140"/>
        <pc:sldMkLst>
          <pc:docMk/>
          <pc:sldMk cId="1440503376" sldId="267"/>
        </pc:sldMkLst>
        <pc:spChg chg="mod">
          <ac:chgData name="Atharv Dhalpe" userId="917c149313c1c74f" providerId="LiveId" clId="{32D17757-A548-41DC-BE0B-BDFA522ABB54}" dt="2026-01-02T19:29:17.790" v="139" actId="403"/>
          <ac:spMkLst>
            <pc:docMk/>
            <pc:sldMk cId="1440503376" sldId="267"/>
            <ac:spMk id="2" creationId="{DDA5828E-D42D-2B93-E919-994DE26F7E8A}"/>
          </ac:spMkLst>
        </pc:spChg>
        <pc:spChg chg="mod">
          <ac:chgData name="Atharv Dhalpe" userId="917c149313c1c74f" providerId="LiveId" clId="{32D17757-A548-41DC-BE0B-BDFA522ABB54}" dt="2026-01-02T19:29:53.746" v="140"/>
          <ac:spMkLst>
            <pc:docMk/>
            <pc:sldMk cId="1440503376" sldId="267"/>
            <ac:spMk id="3" creationId="{8DA67E82-D6AB-7C6E-6FAA-5D48F6418006}"/>
          </ac:spMkLst>
        </pc:spChg>
      </pc:sldChg>
      <pc:sldChg chg="delSp modSp new mod">
        <pc:chgData name="Atharv Dhalpe" userId="917c149313c1c74f" providerId="LiveId" clId="{32D17757-A548-41DC-BE0B-BDFA522ABB54}" dt="2026-01-02T19:31:08.431" v="157" actId="1076"/>
        <pc:sldMkLst>
          <pc:docMk/>
          <pc:sldMk cId="3390849459" sldId="268"/>
        </pc:sldMkLst>
        <pc:spChg chg="mod">
          <ac:chgData name="Atharv Dhalpe" userId="917c149313c1c74f" providerId="LiveId" clId="{32D17757-A548-41DC-BE0B-BDFA522ABB54}" dt="2026-01-02T19:31:08.431" v="157" actId="1076"/>
          <ac:spMkLst>
            <pc:docMk/>
            <pc:sldMk cId="3390849459" sldId="268"/>
            <ac:spMk id="2" creationId="{D7A9DAFB-6692-46B3-ECDD-C7CBCB2AFB62}"/>
          </ac:spMkLst>
        </pc:spChg>
        <pc:spChg chg="del">
          <ac:chgData name="Atharv Dhalpe" userId="917c149313c1c74f" providerId="LiveId" clId="{32D17757-A548-41DC-BE0B-BDFA522ABB54}" dt="2026-01-02T19:30:54.711" v="156" actId="21"/>
          <ac:spMkLst>
            <pc:docMk/>
            <pc:sldMk cId="3390849459" sldId="268"/>
            <ac:spMk id="3" creationId="{BA2D06D7-D1A4-33F5-B806-5630BF343DC6}"/>
          </ac:spMkLst>
        </pc:spChg>
      </pc:sldChg>
      <pc:sldChg chg="new del">
        <pc:chgData name="Atharv Dhalpe" userId="917c149313c1c74f" providerId="LiveId" clId="{32D17757-A548-41DC-BE0B-BDFA522ABB54}" dt="2026-01-02T19:30:04.048" v="142" actId="2696"/>
        <pc:sldMkLst>
          <pc:docMk/>
          <pc:sldMk cId="3799225354" sldId="268"/>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E7686A0-BD89-4BAD-84CB-DCDF7C4C822D}" type="datetimeFigureOut">
              <a:rPr lang="en-IN" smtClean="0"/>
              <a:t>03-01-2026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2BE1BFA-97FE-41C2-A344-2477E9CA6D39}" type="slidenum">
              <a:rPr lang="en-IN" smtClean="0"/>
              <a:t>‹#›</a:t>
            </a:fld>
            <a:endParaRPr lang="en-IN"/>
          </a:p>
        </p:txBody>
      </p:sp>
    </p:spTree>
    <p:extLst>
      <p:ext uri="{BB962C8B-B14F-4D97-AF65-F5344CB8AC3E}">
        <p14:creationId xmlns:p14="http://schemas.microsoft.com/office/powerpoint/2010/main" val="4716044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CE7686A0-BD89-4BAD-84CB-DCDF7C4C822D}" type="datetimeFigureOut">
              <a:rPr lang="en-IN" smtClean="0"/>
              <a:t>03-01-2026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2BE1BFA-97FE-41C2-A344-2477E9CA6D39}" type="slidenum">
              <a:rPr lang="en-IN" smtClean="0"/>
              <a:t>‹#›</a:t>
            </a:fld>
            <a:endParaRPr lang="en-IN"/>
          </a:p>
        </p:txBody>
      </p:sp>
    </p:spTree>
    <p:extLst>
      <p:ext uri="{BB962C8B-B14F-4D97-AF65-F5344CB8AC3E}">
        <p14:creationId xmlns:p14="http://schemas.microsoft.com/office/powerpoint/2010/main" val="39995951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7686A0-BD89-4BAD-84CB-DCDF7C4C822D}" type="datetimeFigureOut">
              <a:rPr lang="en-IN" smtClean="0"/>
              <a:t>03-01-2026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2BE1BFA-97FE-41C2-A344-2477E9CA6D39}" type="slidenum">
              <a:rPr lang="en-IN" smtClean="0"/>
              <a:t>‹#›</a:t>
            </a:fld>
            <a:endParaRPr lang="en-IN"/>
          </a:p>
        </p:txBody>
      </p:sp>
    </p:spTree>
    <p:extLst>
      <p:ext uri="{BB962C8B-B14F-4D97-AF65-F5344CB8AC3E}">
        <p14:creationId xmlns:p14="http://schemas.microsoft.com/office/powerpoint/2010/main" val="27611446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E7686A0-BD89-4BAD-84CB-DCDF7C4C822D}" type="datetimeFigureOut">
              <a:rPr lang="en-IN" smtClean="0"/>
              <a:t>03-01-2026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2BE1BFA-97FE-41C2-A344-2477E9CA6D39}" type="slidenum">
              <a:rPr lang="en-IN" smtClean="0"/>
              <a:t>‹#›</a:t>
            </a:fld>
            <a:endParaRPr lang="en-IN"/>
          </a:p>
        </p:txBody>
      </p:sp>
    </p:spTree>
    <p:extLst>
      <p:ext uri="{BB962C8B-B14F-4D97-AF65-F5344CB8AC3E}">
        <p14:creationId xmlns:p14="http://schemas.microsoft.com/office/powerpoint/2010/main" val="17158539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E7686A0-BD89-4BAD-84CB-DCDF7C4C822D}" type="datetimeFigureOut">
              <a:rPr lang="en-IN" smtClean="0"/>
              <a:t>03-01-2026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2BE1BFA-97FE-41C2-A344-2477E9CA6D39}" type="slidenum">
              <a:rPr lang="en-IN" smtClean="0"/>
              <a:t>‹#›</a:t>
            </a:fld>
            <a:endParaRPr lang="en-IN"/>
          </a:p>
        </p:txBody>
      </p:sp>
    </p:spTree>
    <p:extLst>
      <p:ext uri="{BB962C8B-B14F-4D97-AF65-F5344CB8AC3E}">
        <p14:creationId xmlns:p14="http://schemas.microsoft.com/office/powerpoint/2010/main" val="2164058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CE7686A0-BD89-4BAD-84CB-DCDF7C4C822D}" type="datetimeFigureOut">
              <a:rPr lang="en-IN" smtClean="0"/>
              <a:t>03-01-2026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72BE1BFA-97FE-41C2-A344-2477E9CA6D39}" type="slidenum">
              <a:rPr lang="en-IN" smtClean="0"/>
              <a:t>‹#›</a:t>
            </a:fld>
            <a:endParaRPr lang="en-IN"/>
          </a:p>
        </p:txBody>
      </p:sp>
    </p:spTree>
    <p:extLst>
      <p:ext uri="{BB962C8B-B14F-4D97-AF65-F5344CB8AC3E}">
        <p14:creationId xmlns:p14="http://schemas.microsoft.com/office/powerpoint/2010/main" val="28959775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CE7686A0-BD89-4BAD-84CB-DCDF7C4C822D}" type="datetimeFigureOut">
              <a:rPr lang="en-IN" smtClean="0"/>
              <a:t>03-01-2026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72BE1BFA-97FE-41C2-A344-2477E9CA6D39}" type="slidenum">
              <a:rPr lang="en-IN" smtClean="0"/>
              <a:t>‹#›</a:t>
            </a:fld>
            <a:endParaRPr lang="en-IN"/>
          </a:p>
        </p:txBody>
      </p:sp>
    </p:spTree>
    <p:extLst>
      <p:ext uri="{BB962C8B-B14F-4D97-AF65-F5344CB8AC3E}">
        <p14:creationId xmlns:p14="http://schemas.microsoft.com/office/powerpoint/2010/main" val="3213397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CE7686A0-BD89-4BAD-84CB-DCDF7C4C822D}" type="datetimeFigureOut">
              <a:rPr lang="en-IN" smtClean="0"/>
              <a:t>03-01-2026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72BE1BFA-97FE-41C2-A344-2477E9CA6D39}" type="slidenum">
              <a:rPr lang="en-IN" smtClean="0"/>
              <a:t>‹#›</a:t>
            </a:fld>
            <a:endParaRPr lang="en-IN"/>
          </a:p>
        </p:txBody>
      </p:sp>
    </p:spTree>
    <p:extLst>
      <p:ext uri="{BB962C8B-B14F-4D97-AF65-F5344CB8AC3E}">
        <p14:creationId xmlns:p14="http://schemas.microsoft.com/office/powerpoint/2010/main" val="6287165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E7686A0-BD89-4BAD-84CB-DCDF7C4C822D}" type="datetimeFigureOut">
              <a:rPr lang="en-IN" smtClean="0"/>
              <a:t>03-01-2026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2BE1BFA-97FE-41C2-A344-2477E9CA6D39}" type="slidenum">
              <a:rPr lang="en-IN" smtClean="0"/>
              <a:t>‹#›</a:t>
            </a:fld>
            <a:endParaRPr lang="en-IN"/>
          </a:p>
        </p:txBody>
      </p:sp>
    </p:spTree>
    <p:extLst>
      <p:ext uri="{BB962C8B-B14F-4D97-AF65-F5344CB8AC3E}">
        <p14:creationId xmlns:p14="http://schemas.microsoft.com/office/powerpoint/2010/main" val="23256692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E7686A0-BD89-4BAD-84CB-DCDF7C4C822D}" type="datetimeFigureOut">
              <a:rPr lang="en-IN" smtClean="0"/>
              <a:t>03-01-2026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2BE1BFA-97FE-41C2-A344-2477E9CA6D39}" type="slidenum">
              <a:rPr lang="en-IN" smtClean="0"/>
              <a:t>‹#›</a:t>
            </a:fld>
            <a:endParaRPr lang="en-IN"/>
          </a:p>
        </p:txBody>
      </p:sp>
    </p:spTree>
    <p:extLst>
      <p:ext uri="{BB962C8B-B14F-4D97-AF65-F5344CB8AC3E}">
        <p14:creationId xmlns:p14="http://schemas.microsoft.com/office/powerpoint/2010/main" val="26804597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CE7686A0-BD89-4BAD-84CB-DCDF7C4C822D}" type="datetimeFigureOut">
              <a:rPr lang="en-IN" smtClean="0"/>
              <a:t>03-01-2026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2BE1BFA-97FE-41C2-A344-2477E9CA6D39}" type="slidenum">
              <a:rPr lang="en-IN" smtClean="0"/>
              <a:t>‹#›</a:t>
            </a:fld>
            <a:endParaRPr lang="en-IN"/>
          </a:p>
        </p:txBody>
      </p:sp>
    </p:spTree>
    <p:extLst>
      <p:ext uri="{BB962C8B-B14F-4D97-AF65-F5344CB8AC3E}">
        <p14:creationId xmlns:p14="http://schemas.microsoft.com/office/powerpoint/2010/main" val="33905246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CE7686A0-BD89-4BAD-84CB-DCDF7C4C822D}" type="datetimeFigureOut">
              <a:rPr lang="en-IN" smtClean="0"/>
              <a:t>03-01-2026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2BE1BFA-97FE-41C2-A344-2477E9CA6D39}"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0724351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7686A0-BD89-4BAD-84CB-DCDF7C4C822D}" type="datetimeFigureOut">
              <a:rPr lang="en-IN" smtClean="0"/>
              <a:t>03-01-2026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2BE1BFA-97FE-41C2-A344-2477E9CA6D39}" type="slidenum">
              <a:rPr lang="en-IN" smtClean="0"/>
              <a:t>‹#›</a:t>
            </a:fld>
            <a:endParaRPr lang="en-IN"/>
          </a:p>
        </p:txBody>
      </p:sp>
    </p:spTree>
    <p:extLst>
      <p:ext uri="{BB962C8B-B14F-4D97-AF65-F5344CB8AC3E}">
        <p14:creationId xmlns:p14="http://schemas.microsoft.com/office/powerpoint/2010/main" val="37604269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E7686A0-BD89-4BAD-84CB-DCDF7C4C822D}" type="datetimeFigureOut">
              <a:rPr lang="en-IN" smtClean="0"/>
              <a:t>03-01-2026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2BE1BFA-97FE-41C2-A344-2477E9CA6D39}" type="slidenum">
              <a:rPr lang="en-IN" smtClean="0"/>
              <a:t>‹#›</a:t>
            </a:fld>
            <a:endParaRPr lang="en-IN"/>
          </a:p>
        </p:txBody>
      </p:sp>
    </p:spTree>
    <p:extLst>
      <p:ext uri="{BB962C8B-B14F-4D97-AF65-F5344CB8AC3E}">
        <p14:creationId xmlns:p14="http://schemas.microsoft.com/office/powerpoint/2010/main" val="28568052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E7686A0-BD89-4BAD-84CB-DCDF7C4C822D}" type="datetimeFigureOut">
              <a:rPr lang="en-IN" smtClean="0"/>
              <a:t>03-01-2026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2BE1BFA-97FE-41C2-A344-2477E9CA6D39}" type="slidenum">
              <a:rPr lang="en-IN" smtClean="0"/>
              <a:t>‹#›</a:t>
            </a:fld>
            <a:endParaRPr lang="en-IN"/>
          </a:p>
        </p:txBody>
      </p:sp>
    </p:spTree>
    <p:extLst>
      <p:ext uri="{BB962C8B-B14F-4D97-AF65-F5344CB8AC3E}">
        <p14:creationId xmlns:p14="http://schemas.microsoft.com/office/powerpoint/2010/main" val="21037490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E7686A0-BD89-4BAD-84CB-DCDF7C4C822D}" type="datetimeFigureOut">
              <a:rPr lang="en-IN" smtClean="0"/>
              <a:t>03-01-2026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2BE1BFA-97FE-41C2-A344-2477E9CA6D39}" type="slidenum">
              <a:rPr lang="en-IN" smtClean="0"/>
              <a:t>‹#›</a:t>
            </a:fld>
            <a:endParaRPr lang="en-IN"/>
          </a:p>
        </p:txBody>
      </p:sp>
    </p:spTree>
    <p:extLst>
      <p:ext uri="{BB962C8B-B14F-4D97-AF65-F5344CB8AC3E}">
        <p14:creationId xmlns:p14="http://schemas.microsoft.com/office/powerpoint/2010/main" val="33054707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E7686A0-BD89-4BAD-84CB-DCDF7C4C822D}" type="datetimeFigureOut">
              <a:rPr lang="en-IN" smtClean="0"/>
              <a:t>03-01-2026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2BE1BFA-97FE-41C2-A344-2477E9CA6D39}" type="slidenum">
              <a:rPr lang="en-IN" smtClean="0"/>
              <a:t>‹#›</a:t>
            </a:fld>
            <a:endParaRPr lang="en-IN"/>
          </a:p>
        </p:txBody>
      </p:sp>
    </p:spTree>
    <p:extLst>
      <p:ext uri="{BB962C8B-B14F-4D97-AF65-F5344CB8AC3E}">
        <p14:creationId xmlns:p14="http://schemas.microsoft.com/office/powerpoint/2010/main" val="758020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CE7686A0-BD89-4BAD-84CB-DCDF7C4C822D}" type="datetimeFigureOut">
              <a:rPr lang="en-IN" smtClean="0"/>
              <a:t>03-01-2026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72BE1BFA-97FE-41C2-A344-2477E9CA6D39}" type="slidenum">
              <a:rPr lang="en-IN" smtClean="0"/>
              <a:t>‹#›</a:t>
            </a:fld>
            <a:endParaRPr lang="en-IN"/>
          </a:p>
        </p:txBody>
      </p:sp>
    </p:spTree>
    <p:extLst>
      <p:ext uri="{BB962C8B-B14F-4D97-AF65-F5344CB8AC3E}">
        <p14:creationId xmlns:p14="http://schemas.microsoft.com/office/powerpoint/2010/main" val="326275449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E454C-7292-D8A7-09F5-FC9A1ED816FE}"/>
              </a:ext>
            </a:extLst>
          </p:cNvPr>
          <p:cNvSpPr>
            <a:spLocks noGrp="1"/>
          </p:cNvSpPr>
          <p:nvPr>
            <p:ph type="ctrTitle"/>
          </p:nvPr>
        </p:nvSpPr>
        <p:spPr>
          <a:xfrm>
            <a:off x="1524000" y="2235200"/>
            <a:ext cx="9144000" cy="2387600"/>
          </a:xfrm>
        </p:spPr>
        <p:txBody>
          <a:bodyPr>
            <a:noAutofit/>
          </a:bodyPr>
          <a:lstStyle/>
          <a:p>
            <a:pPr algn="ctr"/>
            <a:r>
              <a:rPr lang="en-IN" sz="9600" dirty="0">
                <a:latin typeface="Bodoni MT Black" panose="02070A03080606020203" pitchFamily="18" charset="0"/>
              </a:rPr>
              <a:t>Crowdfunding Analysis</a:t>
            </a:r>
          </a:p>
        </p:txBody>
      </p:sp>
    </p:spTree>
    <p:extLst>
      <p:ext uri="{BB962C8B-B14F-4D97-AF65-F5344CB8AC3E}">
        <p14:creationId xmlns:p14="http://schemas.microsoft.com/office/powerpoint/2010/main" val="31463317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2B979-A59F-E8C7-D5E8-A4C2EF4B2ED7}"/>
              </a:ext>
            </a:extLst>
          </p:cNvPr>
          <p:cNvSpPr>
            <a:spLocks noGrp="1"/>
          </p:cNvSpPr>
          <p:nvPr>
            <p:ph type="title"/>
          </p:nvPr>
        </p:nvSpPr>
        <p:spPr/>
        <p:txBody>
          <a:bodyPr/>
          <a:lstStyle/>
          <a:p>
            <a:pPr marL="685800" indent="-685800">
              <a:buFont typeface="Wingdings" panose="05000000000000000000" pitchFamily="2" charset="2"/>
              <a:buChar char="v"/>
            </a:pPr>
            <a:r>
              <a:rPr lang="en-IN" sz="5400" dirty="0">
                <a:latin typeface="Bodoni MT Black" panose="02070A03080606020203" pitchFamily="18" charset="0"/>
              </a:rPr>
              <a:t>Background</a:t>
            </a:r>
          </a:p>
        </p:txBody>
      </p:sp>
      <p:sp>
        <p:nvSpPr>
          <p:cNvPr id="3" name="Content Placeholder 2">
            <a:extLst>
              <a:ext uri="{FF2B5EF4-FFF2-40B4-BE49-F238E27FC236}">
                <a16:creationId xmlns:a16="http://schemas.microsoft.com/office/drawing/2014/main" id="{EA02B358-90CC-3556-37BF-5C991CE7F59F}"/>
              </a:ext>
            </a:extLst>
          </p:cNvPr>
          <p:cNvSpPr>
            <a:spLocks noGrp="1"/>
          </p:cNvSpPr>
          <p:nvPr>
            <p:ph idx="1"/>
          </p:nvPr>
        </p:nvSpPr>
        <p:spPr/>
        <p:txBody>
          <a:bodyPr>
            <a:normAutofit fontScale="92500" lnSpcReduction="10000"/>
          </a:bodyPr>
          <a:lstStyle/>
          <a:p>
            <a:r>
              <a:rPr lang="en-US" dirty="0"/>
              <a:t>This project is based on the analysis of crowdfunding data to understand how different projects perform on a crowdfunding platform. Crowdfunding is a method where people raise money for their ideas or projects by collecting small amounts from many backers through an online platform.</a:t>
            </a:r>
          </a:p>
          <a:p>
            <a:r>
              <a:rPr lang="en-US" dirty="0"/>
              <a:t>The dataset used in this project contains information such as:</a:t>
            </a:r>
          </a:p>
          <a:p>
            <a:r>
              <a:rPr lang="en-US" dirty="0"/>
              <a:t>Project status (successful, failed, canceled)</a:t>
            </a:r>
          </a:p>
          <a:p>
            <a:r>
              <a:rPr lang="en-US" dirty="0"/>
              <a:t>Project category</a:t>
            </a:r>
          </a:p>
          <a:p>
            <a:r>
              <a:rPr lang="en-US" dirty="0"/>
              <a:t>Country/location</a:t>
            </a:r>
          </a:p>
          <a:p>
            <a:r>
              <a:rPr lang="en-US" dirty="0"/>
              <a:t>Funding goal and amount raised</a:t>
            </a:r>
          </a:p>
          <a:p>
            <a:r>
              <a:rPr lang="en-US" dirty="0"/>
              <a:t>Number of backers</a:t>
            </a:r>
          </a:p>
          <a:p>
            <a:r>
              <a:rPr lang="en-US" dirty="0"/>
              <a:t>Project creation dates</a:t>
            </a:r>
          </a:p>
          <a:p>
            <a:pPr marL="0" indent="0">
              <a:buNone/>
            </a:pPr>
            <a:endParaRPr lang="en-IN" dirty="0"/>
          </a:p>
        </p:txBody>
      </p:sp>
    </p:spTree>
    <p:extLst>
      <p:ext uri="{BB962C8B-B14F-4D97-AF65-F5344CB8AC3E}">
        <p14:creationId xmlns:p14="http://schemas.microsoft.com/office/powerpoint/2010/main" val="42390738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9517E-3C09-2434-AE77-37191D0300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A30458-DC4B-ED62-51B1-3632C64BFBCB}"/>
              </a:ext>
            </a:extLst>
          </p:cNvPr>
          <p:cNvSpPr>
            <a:spLocks noGrp="1"/>
          </p:cNvSpPr>
          <p:nvPr>
            <p:ph type="title"/>
          </p:nvPr>
        </p:nvSpPr>
        <p:spPr/>
        <p:txBody>
          <a:bodyPr/>
          <a:lstStyle/>
          <a:p>
            <a:pPr marL="685800" indent="-685800">
              <a:buFont typeface="Wingdings" panose="05000000000000000000" pitchFamily="2" charset="2"/>
              <a:buChar char="v"/>
            </a:pPr>
            <a:r>
              <a:rPr lang="en-IN" sz="5400" b="1" dirty="0">
                <a:latin typeface="Bodoni MT Black" panose="02070A03080606020203" pitchFamily="18" charset="0"/>
              </a:rPr>
              <a:t>Project Goals</a:t>
            </a:r>
          </a:p>
        </p:txBody>
      </p:sp>
      <p:sp>
        <p:nvSpPr>
          <p:cNvPr id="3" name="Content Placeholder 2">
            <a:extLst>
              <a:ext uri="{FF2B5EF4-FFF2-40B4-BE49-F238E27FC236}">
                <a16:creationId xmlns:a16="http://schemas.microsoft.com/office/drawing/2014/main" id="{0369EB98-E5F4-54A7-36F8-49EB625EB906}"/>
              </a:ext>
            </a:extLst>
          </p:cNvPr>
          <p:cNvSpPr>
            <a:spLocks noGrp="1"/>
          </p:cNvSpPr>
          <p:nvPr>
            <p:ph idx="1"/>
          </p:nvPr>
        </p:nvSpPr>
        <p:spPr/>
        <p:txBody>
          <a:bodyPr>
            <a:normAutofit lnSpcReduction="10000"/>
          </a:bodyPr>
          <a:lstStyle/>
          <a:p>
            <a:r>
              <a:rPr lang="en-US" b="1" dirty="0"/>
              <a:t>Analyze Project Outcomes</a:t>
            </a:r>
            <a:br>
              <a:rPr lang="en-US" dirty="0"/>
            </a:br>
            <a:r>
              <a:rPr lang="en-US" dirty="0"/>
              <a:t>Understand the distribution of successful, failed, and canceled crowdfunding projects.</a:t>
            </a:r>
          </a:p>
          <a:p>
            <a:r>
              <a:rPr lang="en-US" b="1" dirty="0"/>
              <a:t>Identify Top Project Categories</a:t>
            </a:r>
            <a:br>
              <a:rPr lang="en-US" dirty="0"/>
            </a:br>
            <a:r>
              <a:rPr lang="en-US" dirty="0"/>
              <a:t>Determine the most popular categories and evaluate their performance.</a:t>
            </a:r>
          </a:p>
          <a:p>
            <a:r>
              <a:rPr lang="en-US" b="1" dirty="0"/>
              <a:t>Analyze Location-Based Trends</a:t>
            </a:r>
            <a:br>
              <a:rPr lang="en-US" dirty="0"/>
            </a:br>
            <a:r>
              <a:rPr lang="en-US" dirty="0"/>
              <a:t>Identify countries with the highest number of crowdfunding projects.</a:t>
            </a:r>
          </a:p>
          <a:p>
            <a:r>
              <a:rPr lang="en-US" b="1" dirty="0"/>
              <a:t>Study Time-Based Trends</a:t>
            </a:r>
            <a:br>
              <a:rPr lang="en-US" dirty="0"/>
            </a:br>
            <a:r>
              <a:rPr lang="en-US" dirty="0"/>
              <a:t>Analyze project creation patterns by year, quarter, and month.</a:t>
            </a:r>
          </a:p>
          <a:p>
            <a:r>
              <a:rPr lang="en-US" b="1" dirty="0"/>
              <a:t>Calculate Project Success Rate</a:t>
            </a:r>
            <a:br>
              <a:rPr lang="en-US" dirty="0"/>
            </a:br>
            <a:r>
              <a:rPr lang="en-US" dirty="0"/>
              <a:t>Measure the overall success percentage of crowdfunding projects.</a:t>
            </a:r>
          </a:p>
          <a:p>
            <a:pPr marL="0" indent="0">
              <a:buNone/>
            </a:pPr>
            <a:endParaRPr lang="en-IN" dirty="0"/>
          </a:p>
        </p:txBody>
      </p:sp>
    </p:spTree>
    <p:extLst>
      <p:ext uri="{BB962C8B-B14F-4D97-AF65-F5344CB8AC3E}">
        <p14:creationId xmlns:p14="http://schemas.microsoft.com/office/powerpoint/2010/main" val="1046327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4977B-81C0-9EF8-013B-E70483FF0D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6539CA-4FAB-D4CC-3CBF-95C4C7B3316A}"/>
              </a:ext>
            </a:extLst>
          </p:cNvPr>
          <p:cNvSpPr>
            <a:spLocks noGrp="1"/>
          </p:cNvSpPr>
          <p:nvPr>
            <p:ph type="title"/>
          </p:nvPr>
        </p:nvSpPr>
        <p:spPr/>
        <p:txBody>
          <a:bodyPr/>
          <a:lstStyle/>
          <a:p>
            <a:pPr marL="685800" indent="-685800">
              <a:buFont typeface="Wingdings" panose="05000000000000000000" pitchFamily="2" charset="2"/>
              <a:buChar char="v"/>
            </a:pPr>
            <a:r>
              <a:rPr lang="en-IN" sz="5400" b="1" dirty="0">
                <a:latin typeface="Bodoni MT Black" panose="02070A03080606020203" pitchFamily="18" charset="0"/>
              </a:rPr>
              <a:t>Tools</a:t>
            </a:r>
          </a:p>
        </p:txBody>
      </p:sp>
      <p:sp>
        <p:nvSpPr>
          <p:cNvPr id="3" name="Content Placeholder 2">
            <a:extLst>
              <a:ext uri="{FF2B5EF4-FFF2-40B4-BE49-F238E27FC236}">
                <a16:creationId xmlns:a16="http://schemas.microsoft.com/office/drawing/2014/main" id="{C60B286E-CCDC-AD6C-6AB5-2E695923B335}"/>
              </a:ext>
            </a:extLst>
          </p:cNvPr>
          <p:cNvSpPr>
            <a:spLocks noGrp="1"/>
          </p:cNvSpPr>
          <p:nvPr>
            <p:ph idx="1"/>
          </p:nvPr>
        </p:nvSpPr>
        <p:spPr/>
        <p:txBody>
          <a:bodyPr>
            <a:normAutofit/>
          </a:bodyPr>
          <a:lstStyle/>
          <a:p>
            <a:r>
              <a:rPr lang="en-US" b="1" dirty="0"/>
              <a:t>Excel</a:t>
            </a:r>
            <a:br>
              <a:rPr lang="en-US" dirty="0"/>
            </a:br>
            <a:r>
              <a:rPr lang="en-US" dirty="0"/>
              <a:t>Used for initial data review, basic cleaning, and validation of results.</a:t>
            </a:r>
          </a:p>
          <a:p>
            <a:r>
              <a:rPr lang="en-US" b="1" dirty="0"/>
              <a:t>Power BI</a:t>
            </a:r>
            <a:br>
              <a:rPr lang="en-US" dirty="0"/>
            </a:br>
            <a:r>
              <a:rPr lang="en-US" dirty="0"/>
              <a:t>Used to create charts and dashboards for visualizing insights.</a:t>
            </a:r>
          </a:p>
          <a:p>
            <a:r>
              <a:rPr lang="en-US" b="1" dirty="0"/>
              <a:t>Tableau</a:t>
            </a:r>
            <a:br>
              <a:rPr lang="en-US" dirty="0"/>
            </a:br>
            <a:r>
              <a:rPr lang="en-US" dirty="0"/>
              <a:t>Visualizing crowdfunding data using bar</a:t>
            </a:r>
            <a:r>
              <a:rPr lang="en-US" b="1" dirty="0"/>
              <a:t>, </a:t>
            </a:r>
            <a:r>
              <a:rPr lang="en-US" dirty="0"/>
              <a:t>line</a:t>
            </a:r>
            <a:r>
              <a:rPr lang="en-US" b="1" dirty="0"/>
              <a:t>, </a:t>
            </a:r>
            <a:r>
              <a:rPr lang="en-US" dirty="0"/>
              <a:t>and pie charts.</a:t>
            </a:r>
          </a:p>
          <a:p>
            <a:r>
              <a:rPr lang="en-US" b="1" dirty="0"/>
              <a:t>SQL</a:t>
            </a:r>
            <a:br>
              <a:rPr lang="en-US" dirty="0"/>
            </a:br>
            <a:r>
              <a:rPr lang="en-US" dirty="0"/>
              <a:t>Used for data extraction, cleaning, and analysis using queries, joins, and aggregations.</a:t>
            </a:r>
          </a:p>
          <a:p>
            <a:pPr marL="0" indent="0">
              <a:buNone/>
            </a:pPr>
            <a:endParaRPr lang="en-IN" dirty="0"/>
          </a:p>
        </p:txBody>
      </p:sp>
    </p:spTree>
    <p:extLst>
      <p:ext uri="{BB962C8B-B14F-4D97-AF65-F5344CB8AC3E}">
        <p14:creationId xmlns:p14="http://schemas.microsoft.com/office/powerpoint/2010/main" val="29907196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255E1-665D-7E64-6BEA-3FB3274DA4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E69C6E-788A-1216-DF0C-FFD955C6FC62}"/>
              </a:ext>
            </a:extLst>
          </p:cNvPr>
          <p:cNvSpPr>
            <a:spLocks noGrp="1"/>
          </p:cNvSpPr>
          <p:nvPr>
            <p:ph type="title"/>
          </p:nvPr>
        </p:nvSpPr>
        <p:spPr/>
        <p:txBody>
          <a:bodyPr/>
          <a:lstStyle/>
          <a:p>
            <a:pPr marL="685800" indent="-685800">
              <a:buFont typeface="Wingdings" panose="05000000000000000000" pitchFamily="2" charset="2"/>
              <a:buChar char="v"/>
            </a:pPr>
            <a:r>
              <a:rPr lang="en-IN" sz="5400" b="1" dirty="0">
                <a:latin typeface="Bodoni MT Black" panose="02070A03080606020203" pitchFamily="18" charset="0"/>
              </a:rPr>
              <a:t>Excel</a:t>
            </a:r>
          </a:p>
        </p:txBody>
      </p:sp>
      <p:pic>
        <p:nvPicPr>
          <p:cNvPr id="5" name="Content Placeholder 4">
            <a:extLst>
              <a:ext uri="{FF2B5EF4-FFF2-40B4-BE49-F238E27FC236}">
                <a16:creationId xmlns:a16="http://schemas.microsoft.com/office/drawing/2014/main" id="{1D14FF5A-1BEB-D64D-4696-2B139107C1C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70432" y="1642935"/>
            <a:ext cx="9637776" cy="4661995"/>
          </a:xfrm>
        </p:spPr>
      </p:pic>
    </p:spTree>
    <p:extLst>
      <p:ext uri="{BB962C8B-B14F-4D97-AF65-F5344CB8AC3E}">
        <p14:creationId xmlns:p14="http://schemas.microsoft.com/office/powerpoint/2010/main" val="24648272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44F3B-16F3-4386-922E-85B17DC12C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2923E7-36D9-B6B5-D851-84B75C19E7F9}"/>
              </a:ext>
            </a:extLst>
          </p:cNvPr>
          <p:cNvSpPr>
            <a:spLocks noGrp="1"/>
          </p:cNvSpPr>
          <p:nvPr>
            <p:ph type="title"/>
          </p:nvPr>
        </p:nvSpPr>
        <p:spPr/>
        <p:txBody>
          <a:bodyPr/>
          <a:lstStyle/>
          <a:p>
            <a:pPr marL="685800" indent="-685800">
              <a:buFont typeface="Wingdings" panose="05000000000000000000" pitchFamily="2" charset="2"/>
              <a:buChar char="v"/>
            </a:pPr>
            <a:r>
              <a:rPr lang="en-IN" sz="5400" b="1" dirty="0">
                <a:latin typeface="Bodoni MT Black" panose="02070A03080606020203" pitchFamily="18" charset="0"/>
              </a:rPr>
              <a:t>Power BI</a:t>
            </a:r>
          </a:p>
        </p:txBody>
      </p:sp>
      <p:pic>
        <p:nvPicPr>
          <p:cNvPr id="7" name="Content Placeholder 6">
            <a:extLst>
              <a:ext uri="{FF2B5EF4-FFF2-40B4-BE49-F238E27FC236}">
                <a16:creationId xmlns:a16="http://schemas.microsoft.com/office/drawing/2014/main" id="{F9FC6606-6FDE-AF5C-B68D-6305C43AD20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41120" y="1719072"/>
            <a:ext cx="9509760" cy="4547616"/>
          </a:xfrm>
        </p:spPr>
      </p:pic>
    </p:spTree>
    <p:extLst>
      <p:ext uri="{BB962C8B-B14F-4D97-AF65-F5344CB8AC3E}">
        <p14:creationId xmlns:p14="http://schemas.microsoft.com/office/powerpoint/2010/main" val="6430091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4E38293-DE0F-E507-F493-43A198DDD1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60576" y="1303067"/>
            <a:ext cx="9070848" cy="5061157"/>
          </a:xfrm>
          <a:prstGeom prst="rect">
            <a:avLst/>
          </a:prstGeom>
        </p:spPr>
      </p:pic>
    </p:spTree>
    <p:extLst>
      <p:ext uri="{BB962C8B-B14F-4D97-AF65-F5344CB8AC3E}">
        <p14:creationId xmlns:p14="http://schemas.microsoft.com/office/powerpoint/2010/main" val="8280996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3CBEF-F8DB-9DEB-F41B-0C486407D3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C0F143-3C49-0A2C-4CBF-B453C5FBB5D0}"/>
              </a:ext>
            </a:extLst>
          </p:cNvPr>
          <p:cNvSpPr>
            <a:spLocks noGrp="1"/>
          </p:cNvSpPr>
          <p:nvPr>
            <p:ph type="title"/>
          </p:nvPr>
        </p:nvSpPr>
        <p:spPr/>
        <p:txBody>
          <a:bodyPr/>
          <a:lstStyle/>
          <a:p>
            <a:pPr marL="685800" indent="-685800">
              <a:buFont typeface="Wingdings" panose="05000000000000000000" pitchFamily="2" charset="2"/>
              <a:buChar char="v"/>
            </a:pPr>
            <a:r>
              <a:rPr lang="en-IN" sz="5400" b="1" dirty="0">
                <a:latin typeface="Bodoni MT Black" panose="02070A03080606020203" pitchFamily="18" charset="0"/>
              </a:rPr>
              <a:t>Tableau</a:t>
            </a:r>
          </a:p>
        </p:txBody>
      </p:sp>
      <p:pic>
        <p:nvPicPr>
          <p:cNvPr id="11" name="Content Placeholder 10">
            <a:extLst>
              <a:ext uri="{FF2B5EF4-FFF2-40B4-BE49-F238E27FC236}">
                <a16:creationId xmlns:a16="http://schemas.microsoft.com/office/drawing/2014/main" id="{95A3AC4A-9F5D-3404-7DEF-0F219F75AA1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22832" y="1581912"/>
            <a:ext cx="9546336" cy="4823370"/>
          </a:xfrm>
        </p:spPr>
      </p:pic>
    </p:spTree>
    <p:extLst>
      <p:ext uri="{BB962C8B-B14F-4D97-AF65-F5344CB8AC3E}">
        <p14:creationId xmlns:p14="http://schemas.microsoft.com/office/powerpoint/2010/main" val="35602935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142F1-9723-31CB-4DB1-7C750ECBF0D4}"/>
              </a:ext>
            </a:extLst>
          </p:cNvPr>
          <p:cNvSpPr>
            <a:spLocks noGrp="1"/>
          </p:cNvSpPr>
          <p:nvPr>
            <p:ph type="title"/>
          </p:nvPr>
        </p:nvSpPr>
        <p:spPr/>
        <p:txBody>
          <a:bodyPr/>
          <a:lstStyle/>
          <a:p>
            <a:pPr marL="571500" indent="-571500">
              <a:buFont typeface="Wingdings" panose="05000000000000000000" pitchFamily="2" charset="2"/>
              <a:buChar char="v"/>
            </a:pPr>
            <a:r>
              <a:rPr lang="en-US" dirty="0">
                <a:latin typeface="Bodoni MT Black" panose="02070A03080606020203" pitchFamily="18" charset="0"/>
              </a:rPr>
              <a:t>Key Insights of the Project</a:t>
            </a:r>
            <a:endParaRPr lang="en-IN" dirty="0">
              <a:latin typeface="Bodoni MT Black" panose="02070A03080606020203" pitchFamily="18" charset="0"/>
            </a:endParaRPr>
          </a:p>
        </p:txBody>
      </p:sp>
      <p:sp>
        <p:nvSpPr>
          <p:cNvPr id="3" name="Content Placeholder 2">
            <a:extLst>
              <a:ext uri="{FF2B5EF4-FFF2-40B4-BE49-F238E27FC236}">
                <a16:creationId xmlns:a16="http://schemas.microsoft.com/office/drawing/2014/main" id="{DF67C3D4-78C2-18AD-B0A5-788C43C4BA71}"/>
              </a:ext>
            </a:extLst>
          </p:cNvPr>
          <p:cNvSpPr>
            <a:spLocks noGrp="1"/>
          </p:cNvSpPr>
          <p:nvPr>
            <p:ph idx="1"/>
          </p:nvPr>
        </p:nvSpPr>
        <p:spPr/>
        <p:txBody>
          <a:bodyPr>
            <a:normAutofit fontScale="92500" lnSpcReduction="20000"/>
          </a:bodyPr>
          <a:lstStyle/>
          <a:p>
            <a:r>
              <a:rPr lang="en-IN" dirty="0"/>
              <a:t>Successful Projects Dominate</a:t>
            </a:r>
            <a:br>
              <a:rPr lang="en-US" dirty="0"/>
            </a:br>
            <a:r>
              <a:rPr lang="en-US" dirty="0"/>
              <a:t>A significant number of projects achieved successful outcomes compared to failed and canceled projects.</a:t>
            </a:r>
          </a:p>
          <a:p>
            <a:r>
              <a:rPr lang="en-IN" dirty="0"/>
              <a:t>Popular Categories Perform Better</a:t>
            </a:r>
            <a:br>
              <a:rPr lang="en-US" dirty="0"/>
            </a:br>
            <a:r>
              <a:rPr lang="en-US" dirty="0"/>
              <a:t>Certain categories have a higher number of projects and better success rates, showing strong audience interest.</a:t>
            </a:r>
          </a:p>
          <a:p>
            <a:r>
              <a:rPr lang="en-US" dirty="0"/>
              <a:t>Top Countries Lead Crowdfunding Activity</a:t>
            </a:r>
            <a:br>
              <a:rPr lang="en-US" dirty="0"/>
            </a:br>
            <a:r>
              <a:rPr lang="en-US" dirty="0"/>
              <a:t>A few countries contribute the majority of crowdfunding projects, indicating higher platform adoption.</a:t>
            </a:r>
          </a:p>
          <a:p>
            <a:r>
              <a:rPr lang="en-US" dirty="0"/>
              <a:t>Higher Backer Engagement Improves Success</a:t>
            </a:r>
            <a:br>
              <a:rPr lang="en-US" dirty="0"/>
            </a:br>
            <a:r>
              <a:rPr lang="en-US" dirty="0"/>
              <a:t>Projects with more backers generally have a higher chance of being successful.</a:t>
            </a:r>
          </a:p>
          <a:p>
            <a:r>
              <a:rPr lang="en-IN" dirty="0"/>
              <a:t>Time-Based Growth Trend Observed</a:t>
            </a:r>
            <a:br>
              <a:rPr lang="en-US" dirty="0"/>
            </a:br>
            <a:r>
              <a:rPr lang="en-US" dirty="0"/>
              <a:t>The number of projects increased over the years, showing growing interest in crowdfunding platforms.</a:t>
            </a:r>
            <a:endParaRPr lang="en-IN" dirty="0"/>
          </a:p>
          <a:p>
            <a:endParaRPr lang="en-IN" dirty="0"/>
          </a:p>
        </p:txBody>
      </p:sp>
    </p:spTree>
    <p:extLst>
      <p:ext uri="{BB962C8B-B14F-4D97-AF65-F5344CB8AC3E}">
        <p14:creationId xmlns:p14="http://schemas.microsoft.com/office/powerpoint/2010/main" val="12259211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38EC5-338D-FF45-488A-5F970292FA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B24EDA-B21A-80B4-6637-7E082F4BD75A}"/>
              </a:ext>
            </a:extLst>
          </p:cNvPr>
          <p:cNvSpPr>
            <a:spLocks noGrp="1"/>
          </p:cNvSpPr>
          <p:nvPr>
            <p:ph type="title"/>
          </p:nvPr>
        </p:nvSpPr>
        <p:spPr/>
        <p:txBody>
          <a:bodyPr/>
          <a:lstStyle/>
          <a:p>
            <a:pPr marL="571500" indent="-571500">
              <a:buFont typeface="Wingdings" panose="05000000000000000000" pitchFamily="2" charset="2"/>
              <a:buChar char="v"/>
            </a:pPr>
            <a:r>
              <a:rPr lang="en-US" sz="4000" b="1" dirty="0">
                <a:latin typeface="Bodoni MT Black" panose="02070A03080606020203" pitchFamily="18" charset="0"/>
              </a:rPr>
              <a:t>Challenges Faced in the Project</a:t>
            </a:r>
          </a:p>
        </p:txBody>
      </p:sp>
      <p:sp>
        <p:nvSpPr>
          <p:cNvPr id="3" name="Content Placeholder 2">
            <a:extLst>
              <a:ext uri="{FF2B5EF4-FFF2-40B4-BE49-F238E27FC236}">
                <a16:creationId xmlns:a16="http://schemas.microsoft.com/office/drawing/2014/main" id="{34C468E7-2151-5C82-088A-8816F0856817}"/>
              </a:ext>
            </a:extLst>
          </p:cNvPr>
          <p:cNvSpPr>
            <a:spLocks noGrp="1"/>
          </p:cNvSpPr>
          <p:nvPr>
            <p:ph idx="1"/>
          </p:nvPr>
        </p:nvSpPr>
        <p:spPr/>
        <p:txBody>
          <a:bodyPr>
            <a:normAutofit fontScale="92500" lnSpcReduction="20000"/>
          </a:bodyPr>
          <a:lstStyle/>
          <a:p>
            <a:r>
              <a:rPr lang="en-IN" dirty="0"/>
              <a:t>Improved Data Cleaning</a:t>
            </a:r>
            <a:br>
              <a:rPr lang="en-US" dirty="0"/>
            </a:br>
            <a:r>
              <a:rPr lang="en-US" dirty="0"/>
              <a:t>Handled missing values, removed duplicates, and corrected inconsistent data formats.</a:t>
            </a:r>
          </a:p>
          <a:p>
            <a:r>
              <a:rPr lang="en-IN" dirty="0"/>
              <a:t>Data Standardization</a:t>
            </a:r>
            <a:br>
              <a:rPr lang="en-US" dirty="0"/>
            </a:br>
            <a:r>
              <a:rPr lang="en-US" dirty="0"/>
              <a:t>Converted date formats and standardized category and country names.</a:t>
            </a:r>
          </a:p>
          <a:p>
            <a:r>
              <a:rPr lang="en-IN" dirty="0"/>
              <a:t>Step-by-Step SQL Approach</a:t>
            </a:r>
            <a:br>
              <a:rPr lang="en-US" dirty="0"/>
            </a:br>
            <a:r>
              <a:rPr lang="en-US" dirty="0"/>
              <a:t>Broke complex queries into smaller parts and used optimized joins and aggregations.</a:t>
            </a:r>
          </a:p>
          <a:p>
            <a:r>
              <a:rPr lang="en-IN" dirty="0"/>
              <a:t>Exploratory Data Analysis (EDA)</a:t>
            </a:r>
            <a:br>
              <a:rPr lang="en-US" dirty="0"/>
            </a:br>
            <a:r>
              <a:rPr lang="en-IN" dirty="0"/>
              <a:t>Performed EDA to better understand patterns, trends, and user behaviour.</a:t>
            </a:r>
          </a:p>
          <a:p>
            <a:r>
              <a:rPr lang="en-IN" dirty="0"/>
              <a:t>Effective Visualization</a:t>
            </a:r>
            <a:br>
              <a:rPr lang="en-US" dirty="0"/>
            </a:br>
            <a:r>
              <a:rPr lang="en-US" dirty="0"/>
              <a:t>Selected appropriate charts and dashboards to clearly present insights.</a:t>
            </a:r>
            <a:endParaRPr lang="en-IN" dirty="0"/>
          </a:p>
        </p:txBody>
      </p:sp>
    </p:spTree>
    <p:extLst>
      <p:ext uri="{BB962C8B-B14F-4D97-AF65-F5344CB8AC3E}">
        <p14:creationId xmlns:p14="http://schemas.microsoft.com/office/powerpoint/2010/main" val="40442373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70F20-C170-CDEB-0892-D99543F4E3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81A442-A570-5D2A-D6C7-4476379EFAAD}"/>
              </a:ext>
            </a:extLst>
          </p:cNvPr>
          <p:cNvSpPr>
            <a:spLocks noGrp="1"/>
          </p:cNvSpPr>
          <p:nvPr>
            <p:ph type="title"/>
          </p:nvPr>
        </p:nvSpPr>
        <p:spPr/>
        <p:txBody>
          <a:bodyPr/>
          <a:lstStyle/>
          <a:p>
            <a:pPr marL="571500" indent="-571500">
              <a:buFont typeface="Wingdings" panose="05000000000000000000" pitchFamily="2" charset="2"/>
              <a:buChar char="v"/>
            </a:pPr>
            <a:r>
              <a:rPr lang="en-US" sz="3600" b="1" dirty="0">
                <a:latin typeface="Bodoni MT Black" panose="02070A03080606020203" pitchFamily="18" charset="0"/>
              </a:rPr>
              <a:t>How We Overcome These Challenges</a:t>
            </a:r>
          </a:p>
        </p:txBody>
      </p:sp>
      <p:sp>
        <p:nvSpPr>
          <p:cNvPr id="3" name="Content Placeholder 2">
            <a:extLst>
              <a:ext uri="{FF2B5EF4-FFF2-40B4-BE49-F238E27FC236}">
                <a16:creationId xmlns:a16="http://schemas.microsoft.com/office/drawing/2014/main" id="{A67334DA-0717-E5F2-C865-6D48E69E544C}"/>
              </a:ext>
            </a:extLst>
          </p:cNvPr>
          <p:cNvSpPr>
            <a:spLocks noGrp="1"/>
          </p:cNvSpPr>
          <p:nvPr>
            <p:ph idx="1"/>
          </p:nvPr>
        </p:nvSpPr>
        <p:spPr/>
        <p:txBody>
          <a:bodyPr>
            <a:normAutofit fontScale="92500" lnSpcReduction="20000"/>
          </a:bodyPr>
          <a:lstStyle/>
          <a:p>
            <a:r>
              <a:rPr lang="en-IN" b="1" dirty="0"/>
              <a:t>Data Quality Issues</a:t>
            </a:r>
            <a:br>
              <a:rPr lang="en-US" dirty="0"/>
            </a:br>
            <a:r>
              <a:rPr lang="en-US" dirty="0"/>
              <a:t>The dataset contained missing values, duplicate records, and inconsistent formats.</a:t>
            </a:r>
          </a:p>
          <a:p>
            <a:r>
              <a:rPr lang="en-IN" dirty="0"/>
              <a:t>Data Cleaning &amp; Preprocessing</a:t>
            </a:r>
            <a:br>
              <a:rPr lang="en-US" dirty="0"/>
            </a:br>
            <a:r>
              <a:rPr lang="en-US" dirty="0"/>
              <a:t>Cleaning large datasets and standardizing columns required significant time and effort.</a:t>
            </a:r>
          </a:p>
          <a:p>
            <a:r>
              <a:rPr lang="en-IN" dirty="0"/>
              <a:t>Complex SQL Queries</a:t>
            </a:r>
            <a:br>
              <a:rPr lang="en-US" dirty="0"/>
            </a:br>
            <a:r>
              <a:rPr lang="en-US" dirty="0"/>
              <a:t>Writing and optimizing joins, aggregations, and time-based queries was challenging</a:t>
            </a:r>
          </a:p>
          <a:p>
            <a:r>
              <a:rPr lang="en-IN" dirty="0"/>
              <a:t>Understanding User Behaviour</a:t>
            </a:r>
            <a:br>
              <a:rPr lang="en-US" dirty="0"/>
            </a:br>
            <a:r>
              <a:rPr lang="en-US" dirty="0"/>
              <a:t>Identifying factors that influence project success was not straightforward.</a:t>
            </a:r>
          </a:p>
          <a:p>
            <a:r>
              <a:rPr lang="en-IN" dirty="0"/>
              <a:t>Visualization Selection</a:t>
            </a:r>
            <a:br>
              <a:rPr lang="en-US" dirty="0"/>
            </a:br>
            <a:r>
              <a:rPr lang="en-US" dirty="0"/>
              <a:t>Choosing the right charts to clearly represent insights was difficult.</a:t>
            </a:r>
            <a:endParaRPr lang="en-IN" dirty="0"/>
          </a:p>
        </p:txBody>
      </p:sp>
    </p:spTree>
    <p:extLst>
      <p:ext uri="{BB962C8B-B14F-4D97-AF65-F5344CB8AC3E}">
        <p14:creationId xmlns:p14="http://schemas.microsoft.com/office/powerpoint/2010/main" val="26292503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5828E-D42D-2B93-E919-994DE26F7E8A}"/>
              </a:ext>
            </a:extLst>
          </p:cNvPr>
          <p:cNvSpPr>
            <a:spLocks noGrp="1"/>
          </p:cNvSpPr>
          <p:nvPr>
            <p:ph type="title"/>
          </p:nvPr>
        </p:nvSpPr>
        <p:spPr/>
        <p:txBody>
          <a:bodyPr/>
          <a:lstStyle/>
          <a:p>
            <a:pPr marL="742950" indent="-742950">
              <a:buFont typeface="Wingdings" panose="05000000000000000000" pitchFamily="2" charset="2"/>
              <a:buChar char="v"/>
            </a:pPr>
            <a:r>
              <a:rPr lang="en-IN" sz="4400" dirty="0">
                <a:latin typeface="Bodoni MT Black" panose="02070A03080606020203" pitchFamily="18" charset="0"/>
              </a:rPr>
              <a:t>Conclusion </a:t>
            </a:r>
          </a:p>
        </p:txBody>
      </p:sp>
      <p:sp>
        <p:nvSpPr>
          <p:cNvPr id="3" name="Content Placeholder 2">
            <a:extLst>
              <a:ext uri="{FF2B5EF4-FFF2-40B4-BE49-F238E27FC236}">
                <a16:creationId xmlns:a16="http://schemas.microsoft.com/office/drawing/2014/main" id="{8DA67E82-D6AB-7C6E-6FAA-5D48F6418006}"/>
              </a:ext>
            </a:extLst>
          </p:cNvPr>
          <p:cNvSpPr>
            <a:spLocks noGrp="1"/>
          </p:cNvSpPr>
          <p:nvPr>
            <p:ph idx="1"/>
          </p:nvPr>
        </p:nvSpPr>
        <p:spPr/>
        <p:txBody>
          <a:bodyPr/>
          <a:lstStyle/>
          <a:p>
            <a:r>
              <a:rPr lang="en-US" dirty="0"/>
              <a:t>This project helped us understand how crowdfunding projects perform using data analysis. By using SQL, we analyzed project outcomes, categories, locations, and time-based trends.</a:t>
            </a:r>
          </a:p>
          <a:p>
            <a:r>
              <a:rPr lang="en-US" dirty="0"/>
              <a:t>The analysis showed that project success depends on factors such as category popularity, number of backers, and funding trends over time. Using tools like Power BI and Tableau, we converted raw data into meaningful visual insights.</a:t>
            </a:r>
          </a:p>
          <a:p>
            <a:r>
              <a:rPr lang="en-US" dirty="0"/>
              <a:t>Overall, this project improved our SQL skills and helped us learn how data can be used to support better decision-making.</a:t>
            </a:r>
          </a:p>
          <a:p>
            <a:endParaRPr lang="en-IN" dirty="0"/>
          </a:p>
        </p:txBody>
      </p:sp>
    </p:spTree>
    <p:extLst>
      <p:ext uri="{BB962C8B-B14F-4D97-AF65-F5344CB8AC3E}">
        <p14:creationId xmlns:p14="http://schemas.microsoft.com/office/powerpoint/2010/main" val="14405033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9DAFB-6692-46B3-ECDD-C7CBCB2AFB62}"/>
              </a:ext>
            </a:extLst>
          </p:cNvPr>
          <p:cNvSpPr>
            <a:spLocks noGrp="1"/>
          </p:cNvSpPr>
          <p:nvPr>
            <p:ph type="ctrTitle"/>
          </p:nvPr>
        </p:nvSpPr>
        <p:spPr>
          <a:xfrm>
            <a:off x="1683171" y="835152"/>
            <a:ext cx="8825658" cy="3329581"/>
          </a:xfrm>
        </p:spPr>
        <p:txBody>
          <a:bodyPr/>
          <a:lstStyle/>
          <a:p>
            <a:pPr algn="ctr"/>
            <a:r>
              <a:rPr lang="en-IN" dirty="0">
                <a:latin typeface="Bodoni MT Black" panose="02070A03080606020203" pitchFamily="18" charset="0"/>
              </a:rPr>
              <a:t>Thank You</a:t>
            </a:r>
          </a:p>
        </p:txBody>
      </p:sp>
    </p:spTree>
    <p:extLst>
      <p:ext uri="{BB962C8B-B14F-4D97-AF65-F5344CB8AC3E}">
        <p14:creationId xmlns:p14="http://schemas.microsoft.com/office/powerpoint/2010/main" val="339084945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33</TotalTime>
  <Words>602</Words>
  <Application>Microsoft Office PowerPoint</Application>
  <PresentationFormat>Widescreen</PresentationFormat>
  <Paragraphs>47</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Bodoni MT Black</vt:lpstr>
      <vt:lpstr>Century Gothic</vt:lpstr>
      <vt:lpstr>Wingdings</vt:lpstr>
      <vt:lpstr>Wingdings 3</vt:lpstr>
      <vt:lpstr>Ion</vt:lpstr>
      <vt:lpstr>Crowdfunding Analysis</vt:lpstr>
      <vt:lpstr>Background</vt:lpstr>
      <vt:lpstr>Project Goals</vt:lpstr>
      <vt:lpstr>Tools</vt:lpstr>
      <vt:lpstr>Excel</vt:lpstr>
      <vt:lpstr>Power BI</vt:lpstr>
      <vt:lpstr>PowerPoint Presentation</vt:lpstr>
      <vt:lpstr>Tableau</vt:lpstr>
      <vt:lpstr>Key Insights of the Project</vt:lpstr>
      <vt:lpstr>Challenges Faced in the Project</vt:lpstr>
      <vt:lpstr>How We Overcome These Challenges</vt:lpstr>
      <vt:lpstr>Conclusion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Atharv Dhalpe</dc:creator>
  <cp:lastModifiedBy>Atharv Dhalpe</cp:lastModifiedBy>
  <cp:revision>1</cp:revision>
  <dcterms:created xsi:type="dcterms:W3CDTF">2026-01-02T18:58:53Z</dcterms:created>
  <dcterms:modified xsi:type="dcterms:W3CDTF">2026-01-02T19:31:54Z</dcterms:modified>
</cp:coreProperties>
</file>